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63840" y="-1371600"/>
            <a:ext cx="6035040" cy="6035040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200400" cy="310896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6D28D9"/>
                </a:solidFill>
                <a:latin typeface="Calibri"/>
              </a:rPr>
              <a:t>PERSONAL FINANCE + ASSETS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85953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0" b="1">
                <a:solidFill>
                  <a:srgbClr val="1A1A24"/>
                </a:solidFill>
                <a:latin typeface="Calibri"/>
              </a:rPr>
              <a:t>Sabil Tracker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8138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100" b="0">
                <a:solidFill>
                  <a:srgbClr val="6B6B7E"/>
                </a:solidFill>
                <a:latin typeface="Calibri"/>
              </a:rPr>
              <a:t>Track cash, bank, assets and documents
in one place — and never miss a deadline.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224528"/>
            <a:ext cx="1371600" cy="381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572000"/>
            <a:ext cx="8595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8E8E9E"/>
                </a:solidFill>
                <a:latin typeface="Calibri"/>
              </a:rPr>
              <a:t>Why the old way fails  ·  What this does  ·  Why it's worth using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6D28D9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9536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A1A24"/>
                </a:solidFill>
                <a:latin typeface="Calibri"/>
              </a:rPr>
              <a:t>You're not disorganised.
Your tools just weren't built for this.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3337560" cy="2148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033272" y="25603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6D28D9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3154680"/>
            <a:ext cx="28254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A1A24"/>
                </a:solidFill>
                <a:latin typeface="Calibri"/>
              </a:rPr>
              <a:t>Money lives in two places.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3703320"/>
            <a:ext cx="28254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6B7E"/>
                </a:solidFill>
                <a:latin typeface="Calibri"/>
              </a:rPr>
              <a:t>Cash in your pocket, the rest in the bank. Neither view is the real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2331720"/>
            <a:ext cx="3337560" cy="2148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4654296" y="25603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6D28D9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296" y="3154680"/>
            <a:ext cx="28254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A1A24"/>
                </a:solidFill>
                <a:latin typeface="Calibri"/>
              </a:rPr>
              <a:t>Deadlines live nowhere.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3703320"/>
            <a:ext cx="28254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6B7E"/>
                </a:solidFill>
                <a:latin typeface="Calibri"/>
              </a:rPr>
              <a:t>Passports, licences, insurance and servicing expire on their own schedule.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9288" y="2331720"/>
            <a:ext cx="3337560" cy="2148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275320" y="25603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6D28D9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154680"/>
            <a:ext cx="28254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A1A24"/>
                </a:solidFill>
                <a:latin typeface="Calibri"/>
              </a:rPr>
              <a:t>Details have no home.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703320"/>
            <a:ext cx="28254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6B7E"/>
                </a:solidFill>
                <a:latin typeface="Calibri"/>
              </a:rPr>
              <a:t>An odometer reading or a document number doesn't fit in "amount + note".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50" b="1">
                <a:solidFill>
                  <a:srgbClr val="1A1A24"/>
                </a:solidFill>
                <a:latin typeface="Calibri"/>
              </a:rPr>
              <a:t>The result is the same every time: you find out too late, and it costs money.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E8E9E"/>
                </a:solidFill>
                <a:latin typeface="Calibri"/>
              </a:rPr>
              <a:t>Sabil Tracker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00055" y="63550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E8E9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6D28D9"/>
                </a:solidFill>
                <a:latin typeface="Calibri"/>
              </a:rPr>
              <a:t>THE OLD 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9536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A1A24"/>
                </a:solidFill>
                <a:latin typeface="Calibri"/>
              </a:rPr>
              <a:t>Six problems this replaces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3337560" cy="1828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2" y="2386584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0">
                <a:solidFill>
                  <a:srgbClr val="1A1A24"/>
                </a:solidFill>
                <a:latin typeface="Calibri"/>
              </a:rPr>
              <a:t>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2862072"/>
            <a:ext cx="2825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1A1A24"/>
                </a:solidFill>
                <a:latin typeface="Calibri"/>
              </a:rPr>
              <a:t>Balance guesswork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3182111"/>
            <a:ext cx="28254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6B6B7E"/>
                </a:solidFill>
                <a:latin typeface="Calibri"/>
              </a:rPr>
              <a:t>Cash counted in your head, bank checked in another app. The real number is a guess.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2148840"/>
            <a:ext cx="3337560" cy="1828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54296" y="2386584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0">
                <a:solidFill>
                  <a:srgbClr val="1A1A24"/>
                </a:solidFill>
                <a:latin typeface="Calibri"/>
              </a:rPr>
              <a:t>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296" y="2862072"/>
            <a:ext cx="2825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1A1A24"/>
                </a:solidFill>
                <a:latin typeface="Calibri"/>
              </a:rPr>
              <a:t>The spreadsheet that dies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3182111"/>
            <a:ext cx="28254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6B6B7E"/>
                </a:solidFill>
                <a:latin typeface="Calibri"/>
              </a:rPr>
              <a:t>Accurate for two weeks, then it drifts, falls out of sync and gets abandoned.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9288" y="2148840"/>
            <a:ext cx="3337560" cy="1828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75320" y="2386584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0">
                <a:solidFill>
                  <a:srgbClr val="1A1A24"/>
                </a:solidFill>
                <a:latin typeface="Calibri"/>
              </a:rPr>
              <a:t>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862072"/>
            <a:ext cx="2825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1A1A24"/>
                </a:solidFill>
                <a:latin typeface="Calibri"/>
              </a:rPr>
              <a:t>Silent expiries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182111"/>
            <a:ext cx="28254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6B6B7E"/>
                </a:solidFill>
                <a:latin typeface="Calibri"/>
              </a:rPr>
              <a:t>Passports, licences and insurance expire quietly — you find out at the airport.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15384"/>
            <a:ext cx="3337560" cy="1828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33272" y="4453128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0">
                <a:solidFill>
                  <a:srgbClr val="1A1A24"/>
                </a:solidFill>
                <a:latin typeface="Calibri"/>
              </a:rPr>
              <a:t>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" y="4928616"/>
            <a:ext cx="2825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1A1A24"/>
                </a:solidFill>
                <a:latin typeface="Calibri"/>
              </a:rPr>
              <a:t>Maintenance by 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" y="5248655"/>
            <a:ext cx="28254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6B6B7E"/>
                </a:solidFill>
                <a:latin typeface="Calibri"/>
              </a:rPr>
              <a:t>Servicing and tyre changes tracked in your head, so they slip until something breaks.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98264" y="4215384"/>
            <a:ext cx="3337560" cy="1828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654296" y="4453128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0">
                <a:solidFill>
                  <a:srgbClr val="1A1A24"/>
                </a:solidFill>
                <a:latin typeface="Calibri"/>
              </a:rPr>
              <a:t>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4296" y="4928616"/>
            <a:ext cx="2825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1A1A24"/>
                </a:solidFill>
                <a:latin typeface="Calibri"/>
              </a:rPr>
              <a:t>Nowhere for the details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4296" y="5248655"/>
            <a:ext cx="28254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6B6B7E"/>
                </a:solidFill>
                <a:latin typeface="Calibri"/>
              </a:rPr>
              <a:t>Generic apps store an amount and a note. No odometer, no document number, no expiry.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9288" y="4215384"/>
            <a:ext cx="3337560" cy="1828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75320" y="4453128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0">
                <a:solidFill>
                  <a:srgbClr val="1A1A24"/>
                </a:solidFill>
                <a:latin typeface="Calibri"/>
              </a:rPr>
              <a:t>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928616"/>
            <a:ext cx="2825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1A1A24"/>
                </a:solidFill>
                <a:latin typeface="Calibri"/>
              </a:rPr>
              <a:t>Overspending, found late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5248655"/>
            <a:ext cx="28254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6B6B7E"/>
                </a:solidFill>
                <a:latin typeface="Calibri"/>
              </a:rPr>
              <a:t>No guardrails, so the overspend is only visible after the month has closed.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E8E9E"/>
                </a:solidFill>
                <a:latin typeface="Calibri"/>
              </a:rPr>
              <a:t>Sabil Tracker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00055" y="63550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E8E9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6D28D9"/>
                </a:solidFill>
                <a:latin typeface="Calibri"/>
              </a:rPr>
              <a:t>BEFORE /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9536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A1A24"/>
                </a:solidFill>
                <a:latin typeface="Calibri"/>
              </a:rPr>
              <a:t>The same six problems, solved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1168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F1F3"/>
          </a:solidFill>
          <a:ln w="12700">
            <a:solidFill>
              <a:srgbClr val="FB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BE123C"/>
                </a:solidFill>
                <a:latin typeface="Calibri"/>
              </a:rPr>
              <a:t>THE OLD 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01168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047857"/>
                </a:solidFill>
                <a:latin typeface="Calibri"/>
              </a:rPr>
              <a:t>WITH SABIL TRACKER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14600"/>
            <a:ext cx="5074920" cy="566928"/>
          </a:xfrm>
          <a:prstGeom prst="roundRect">
            <a:avLst>
              <a:gd name="adj" fmla="val 5500"/>
            </a:avLst>
          </a:prstGeom>
          <a:solidFill>
            <a:srgbClr val="FFF1F3"/>
          </a:solidFill>
          <a:ln w="12700">
            <a:solidFill>
              <a:srgbClr val="FB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96696" y="2660904"/>
            <a:ext cx="46360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BE123C"/>
                </a:solidFill>
                <a:latin typeface="Calibri"/>
              </a:rPr>
              <a:t>Two balances, mentally reconciled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514600"/>
            <a:ext cx="5074920" cy="566928"/>
          </a:xfrm>
          <a:prstGeom prst="roundRect">
            <a:avLst>
              <a:gd name="adj" fmla="val 55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391656" y="2660904"/>
            <a:ext cx="46360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47857"/>
                </a:solidFill>
                <a:latin typeface="Calibri"/>
              </a:rPr>
              <a:t>One ledger; cash and bank reconcile on save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182112"/>
            <a:ext cx="5074920" cy="566928"/>
          </a:xfrm>
          <a:prstGeom prst="roundRect">
            <a:avLst>
              <a:gd name="adj" fmla="val 5500"/>
            </a:avLst>
          </a:prstGeom>
          <a:solidFill>
            <a:srgbClr val="FFF1F3"/>
          </a:solidFill>
          <a:ln w="12700">
            <a:solidFill>
              <a:srgbClr val="FB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96696" y="3328416"/>
            <a:ext cx="46360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BE123C"/>
                </a:solidFill>
                <a:latin typeface="Calibri"/>
              </a:rPr>
              <a:t>A spreadsheet you stop updating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182112"/>
            <a:ext cx="5074920" cy="566928"/>
          </a:xfrm>
          <a:prstGeom prst="roundRect">
            <a:avLst>
              <a:gd name="adj" fmla="val 55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91656" y="3328416"/>
            <a:ext cx="46360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47857"/>
                </a:solidFill>
                <a:latin typeface="Calibri"/>
              </a:rPr>
              <a:t>A logger built for daily use — seconds per entry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849624"/>
            <a:ext cx="5074920" cy="566928"/>
          </a:xfrm>
          <a:prstGeom prst="roundRect">
            <a:avLst>
              <a:gd name="adj" fmla="val 5500"/>
            </a:avLst>
          </a:prstGeom>
          <a:solidFill>
            <a:srgbClr val="FFF1F3"/>
          </a:solidFill>
          <a:ln w="12700">
            <a:solidFill>
              <a:srgbClr val="FB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96696" y="3995928"/>
            <a:ext cx="46360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BE123C"/>
                </a:solidFill>
                <a:latin typeface="Calibri"/>
              </a:rPr>
              <a:t>Expiry dates you remember, or don't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849624"/>
            <a:ext cx="5074920" cy="566928"/>
          </a:xfrm>
          <a:prstGeom prst="roundRect">
            <a:avLst>
              <a:gd name="adj" fmla="val 55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91656" y="3995928"/>
            <a:ext cx="46360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47857"/>
                </a:solidFill>
                <a:latin typeface="Calibri"/>
              </a:rPr>
              <a:t>Every date tracked, colour-coded by urgency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517136"/>
            <a:ext cx="5074920" cy="566928"/>
          </a:xfrm>
          <a:prstGeom prst="roundRect">
            <a:avLst>
              <a:gd name="adj" fmla="val 5500"/>
            </a:avLst>
          </a:prstGeom>
          <a:solidFill>
            <a:srgbClr val="FFF1F3"/>
          </a:solidFill>
          <a:ln w="12700">
            <a:solidFill>
              <a:srgbClr val="FB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96696" y="4663440"/>
            <a:ext cx="46360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BE123C"/>
                </a:solidFill>
                <a:latin typeface="Calibri"/>
              </a:rPr>
              <a:t>Service intervals tracked by feel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17136"/>
            <a:ext cx="5074920" cy="566928"/>
          </a:xfrm>
          <a:prstGeom prst="roundRect">
            <a:avLst>
              <a:gd name="adj" fmla="val 55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91656" y="4663440"/>
            <a:ext cx="46360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47857"/>
                </a:solidFill>
                <a:latin typeface="Calibri"/>
              </a:rPr>
              <a:t>Odometer + service dates with next-due badges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184648"/>
            <a:ext cx="5074920" cy="566928"/>
          </a:xfrm>
          <a:prstGeom prst="roundRect">
            <a:avLst>
              <a:gd name="adj" fmla="val 5500"/>
            </a:avLst>
          </a:prstGeom>
          <a:solidFill>
            <a:srgbClr val="FFF1F3"/>
          </a:solidFill>
          <a:ln w="12700">
            <a:solidFill>
              <a:srgbClr val="FB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96696" y="5330952"/>
            <a:ext cx="46360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BE123C"/>
                </a:solidFill>
                <a:latin typeface="Calibri"/>
              </a:rPr>
              <a:t>Fields you can't add without a developer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5184648"/>
            <a:ext cx="5074920" cy="566928"/>
          </a:xfrm>
          <a:prstGeom prst="roundRect">
            <a:avLst>
              <a:gd name="adj" fmla="val 55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391656" y="5330952"/>
            <a:ext cx="46360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47857"/>
                </a:solidFill>
                <a:latin typeface="Calibri"/>
              </a:rPr>
              <a:t>Define your own fields per category. No code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852160"/>
            <a:ext cx="5074920" cy="566928"/>
          </a:xfrm>
          <a:prstGeom prst="roundRect">
            <a:avLst>
              <a:gd name="adj" fmla="val 5500"/>
            </a:avLst>
          </a:prstGeom>
          <a:solidFill>
            <a:srgbClr val="FFF1F3"/>
          </a:solidFill>
          <a:ln w="12700">
            <a:solidFill>
              <a:srgbClr val="FB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96696" y="5998464"/>
            <a:ext cx="46360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BE123C"/>
                </a:solidFill>
                <a:latin typeface="Calibri"/>
              </a:rPr>
              <a:t>Overspend discovered after the fact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5852160"/>
            <a:ext cx="5074920" cy="566928"/>
          </a:xfrm>
          <a:prstGeom prst="roundRect">
            <a:avLst>
              <a:gd name="adj" fmla="val 55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91656" y="5998464"/>
            <a:ext cx="46360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47857"/>
                </a:solidFill>
                <a:latin typeface="Calibri"/>
              </a:rPr>
              <a:t>Live budget progress and over-budget alerts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E8E9E"/>
                </a:solidFill>
                <a:latin typeface="Calibri"/>
              </a:rPr>
              <a:t>Sabil Tracker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00055" y="63550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E8E9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6D28D9"/>
                </a:solidFill>
                <a:latin typeface="Calibri"/>
              </a:rPr>
              <a:t>WHAT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9536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A1A24"/>
                </a:solidFill>
                <a:latin typeface="Calibri"/>
              </a:rPr>
              <a:t>One place for money, assets and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0">
                <a:solidFill>
                  <a:srgbClr val="6B6B7E"/>
                </a:solidFill>
                <a:latin typeface="Calibri"/>
              </a:rPr>
              <a:t>A self-hosted tracker that treats a passport, a car service and a grocery run as things worth recording properly.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834640"/>
            <a:ext cx="333756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33272" y="3072384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0">
                <a:solidFill>
                  <a:srgbClr val="1A1A24"/>
                </a:solidFill>
                <a:latin typeface="Calibri"/>
              </a:rPr>
              <a:t>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3547872"/>
            <a:ext cx="2825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1A1A24"/>
                </a:solidFill>
                <a:latin typeface="Calibri"/>
              </a:rPr>
              <a:t>A real ledger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3867911"/>
            <a:ext cx="282549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6B6B7E"/>
                </a:solidFill>
                <a:latin typeface="Calibri"/>
              </a:rPr>
              <a:t>Physical cash and bank accounts tracked separately, reconciled automatically on every entry.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2834640"/>
            <a:ext cx="333756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54296" y="3072384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0">
                <a:solidFill>
                  <a:srgbClr val="1A1A24"/>
                </a:solidFill>
                <a:latin typeface="Calibri"/>
              </a:rPr>
              <a:t>🗂️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3547872"/>
            <a:ext cx="2825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1A1A24"/>
                </a:solidFill>
                <a:latin typeface="Calibri"/>
              </a:rPr>
              <a:t>A flexible schema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3867911"/>
            <a:ext cx="282549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6B6B7E"/>
                </a:solidFill>
                <a:latin typeface="Calibri"/>
              </a:rPr>
              <a:t>Categories you nest, and custom fields you define per category — without touching code.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9288" y="2834640"/>
            <a:ext cx="333756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75320" y="3072384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0">
                <a:solidFill>
                  <a:srgbClr val="1A1A24"/>
                </a:solidFill>
                <a:latin typeface="Calibri"/>
              </a:rPr>
              <a:t>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547872"/>
            <a:ext cx="2825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1A1A24"/>
                </a:solidFill>
                <a:latin typeface="Calibri"/>
              </a:rPr>
              <a:t>A deadline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867911"/>
            <a:ext cx="282549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6B6B7E"/>
                </a:solidFill>
                <a:latin typeface="Calibri"/>
              </a:rPr>
              <a:t>Every date you record can raise a reminder, on your own schedule, before it matters.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E8E9E"/>
                </a:solidFill>
                <a:latin typeface="Calibri"/>
              </a:rPr>
              <a:t>Sabil Tracker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00055" y="63550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E8E9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6D28D9"/>
                </a:solidFill>
                <a:latin typeface="Calibri"/>
              </a:rP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9536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A1A24"/>
                </a:solidFill>
                <a:latin typeface="Calibri"/>
              </a:rPr>
              <a:t>What's in the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2770632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6696" y="232257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>
                <a:solidFill>
                  <a:srgbClr val="1A1A24"/>
                </a:solidFill>
                <a:latin typeface="Calibri"/>
              </a:rPr>
              <a:t>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" y="2761488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A1A24"/>
                </a:solidFill>
                <a:latin typeface="Calibri"/>
              </a:rPr>
              <a:t>Dual cash / bank ledger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318211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6B6B7E"/>
                </a:solidFill>
                <a:latin typeface="Calibri"/>
              </a:rPr>
              <a:t>Separate balances, reconciled in real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30752" y="2103120"/>
            <a:ext cx="2770632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950208" y="232257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>
                <a:solidFill>
                  <a:srgbClr val="1A1A24"/>
                </a:solidFill>
                <a:latin typeface="Calibri"/>
              </a:rPr>
              <a:t>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0208" y="2761488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A1A24"/>
                </a:solidFill>
                <a:latin typeface="Calibri"/>
              </a:rPr>
              <a:t>Hierarchical 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0208" y="318211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6B6B7E"/>
                </a:solidFill>
                <a:latin typeface="Calibri"/>
              </a:rPr>
              <a:t>Parent → sub-category, each with its own emoji.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84264" y="2103120"/>
            <a:ext cx="2770632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903720" y="232257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>
                <a:solidFill>
                  <a:srgbClr val="1A1A24"/>
                </a:solidFill>
                <a:latin typeface="Calibri"/>
              </a:rPr>
              <a:t>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761488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A1A24"/>
                </a:solidFill>
                <a:latin typeface="Calibri"/>
              </a:rPr>
              <a:t>Dynamic Fields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18211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6B6B7E"/>
                </a:solidFill>
                <a:latin typeface="Calibri"/>
              </a:rPr>
              <a:t>Define Date / Number / Text / Checkbox fields.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7776" y="2103120"/>
            <a:ext cx="2770632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857232" y="232257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>
                <a:solidFill>
                  <a:srgbClr val="1A1A24"/>
                </a:solidFill>
                <a:latin typeface="Calibri"/>
              </a:rPr>
              <a:t>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7232" y="2761488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A1A24"/>
                </a:solidFill>
                <a:latin typeface="Calibri"/>
              </a:rPr>
              <a:t>Expiry &amp; maintenance planner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57232" y="318211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6B6B7E"/>
                </a:solidFill>
                <a:latin typeface="Calibri"/>
              </a:rPr>
              <a:t>Days-remaining, colour-coded by urgency.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913632"/>
            <a:ext cx="2770632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96696" y="413308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>
                <a:solidFill>
                  <a:srgbClr val="1A1A24"/>
                </a:solidFill>
                <a:latin typeface="Calibri"/>
              </a:rPr>
              <a:t>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" y="45720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A1A24"/>
                </a:solidFill>
                <a:latin typeface="Calibri"/>
              </a:rPr>
              <a:t>Automated reminders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" y="499262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6B6B7E"/>
                </a:solidFill>
                <a:latin typeface="Calibri"/>
              </a:rPr>
              <a:t>Nightly scheduler, email + in-app alerts.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30752" y="3913632"/>
            <a:ext cx="2770632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950208" y="413308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>
                <a:solidFill>
                  <a:srgbClr val="1A1A24"/>
                </a:solidFill>
                <a:latin typeface="Calibri"/>
              </a:rPr>
              <a:t>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0208" y="45720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A1A24"/>
                </a:solidFill>
                <a:latin typeface="Calibri"/>
              </a:rPr>
              <a:t>Budgets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50208" y="499262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6B6B7E"/>
                </a:solidFill>
                <a:latin typeface="Calibri"/>
              </a:rPr>
              <a:t>Live progress bars and over-budget warnings.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84264" y="3913632"/>
            <a:ext cx="2770632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903720" y="413308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>
                <a:solidFill>
                  <a:srgbClr val="1A1A24"/>
                </a:solidFill>
                <a:latin typeface="Calibri"/>
              </a:rPr>
              <a:t>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45720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A1A24"/>
                </a:solidFill>
                <a:latin typeface="Calibri"/>
              </a:rPr>
              <a:t>Reports &amp; CSV export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499262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6B6B7E"/>
                </a:solidFill>
                <a:latin typeface="Calibri"/>
              </a:rPr>
              <a:t>Drill-down charts, filters, downloadable statements.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37776" y="3913632"/>
            <a:ext cx="2770632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857232" y="413308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>
                <a:solidFill>
                  <a:srgbClr val="1A1A24"/>
                </a:solidFill>
                <a:latin typeface="Calibri"/>
              </a:rPr>
              <a:t>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57232" y="45720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A1A24"/>
                </a:solidFill>
                <a:latin typeface="Calibri"/>
              </a:rPr>
              <a:t>Self-hosted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57232" y="499262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6B6B7E"/>
                </a:solidFill>
                <a:latin typeface="Calibri"/>
              </a:rPr>
              <a:t>Your database, your server, your data.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E8E9E"/>
                </a:solidFill>
                <a:latin typeface="Calibri"/>
              </a:rPr>
              <a:t>Sabil Tracker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00055" y="63550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E8E9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6D28D9"/>
                </a:solidFill>
                <a:latin typeface="Calibri"/>
              </a:rPr>
              <a:t>FEATURE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9536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A1A24"/>
                </a:solidFill>
                <a:latin typeface="Calibri"/>
              </a:rPr>
              <a:t>Cash and bank, finally reconciled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0">
                <a:solidFill>
                  <a:srgbClr val="6B6B7E"/>
                </a:solidFill>
                <a:latin typeface="Calibri"/>
              </a:rPr>
              <a:t>Most tools treat all money as one pool. Physical cash is where budgets quietly break.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97480"/>
            <a:ext cx="5074920" cy="24871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6D28D9"/>
                </a:solidFill>
                <a:latin typeface="Calibri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37560"/>
            <a:ext cx="44348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6B6B7E"/>
                </a:solidFill>
                <a:latin typeface="Calibri"/>
              </a:rPr>
              <a:t>Every account is typed as cash, bank or credit.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6B6B7E"/>
                </a:solidFill>
                <a:latin typeface="Calibri"/>
              </a:rPr>
              <a:t>Logging an expense decrements that account; income increments it.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6B6B7E"/>
                </a:solidFill>
                <a:latin typeface="Calibri"/>
              </a:rPr>
              <a:t>Editing or deleting reverses the old effect and reapplies the new one.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6B6B7E"/>
                </a:solidFill>
                <a:latin typeface="Calibri"/>
              </a:rPr>
              <a:t>Balance maths runs inside a database transaction, so it can't half-apply.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697480"/>
            <a:ext cx="5074920" cy="24871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92240" y="29260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6D28D9"/>
                </a:solidFill>
                <a:latin typeface="Calibri"/>
              </a:rPr>
              <a:t>What you see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364992"/>
            <a:ext cx="4434840" cy="411480"/>
          </a:xfrm>
          <a:prstGeom prst="roundRect">
            <a:avLst>
              <a:gd name="adj" fmla="val 5500"/>
            </a:avLst>
          </a:prstGeom>
          <a:solidFill>
            <a:srgbClr val="FAFAFD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675120" y="34655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47857"/>
                </a:solidFill>
                <a:latin typeface="Calibri"/>
              </a:rPr>
              <a:t>💵  Cash in hand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346557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8E8E9E"/>
                </a:solidFill>
                <a:latin typeface="Calibri"/>
              </a:rPr>
              <a:t>live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867912"/>
            <a:ext cx="4434840" cy="411480"/>
          </a:xfrm>
          <a:prstGeom prst="roundRect">
            <a:avLst>
              <a:gd name="adj" fmla="val 5500"/>
            </a:avLst>
          </a:prstGeom>
          <a:solidFill>
            <a:srgbClr val="FAFAFD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675120" y="396849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6D28D9"/>
                </a:solidFill>
                <a:latin typeface="Calibri"/>
              </a:rPr>
              <a:t>🏦  Bank &amp; digital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396849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8E8E9E"/>
                </a:solidFill>
                <a:latin typeface="Calibri"/>
              </a:rPr>
              <a:t>live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370832"/>
            <a:ext cx="4434840" cy="411480"/>
          </a:xfrm>
          <a:prstGeom prst="roundRect">
            <a:avLst>
              <a:gd name="adj" fmla="val 5500"/>
            </a:avLst>
          </a:prstGeom>
          <a:solidFill>
            <a:srgbClr val="FAFAFD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75120" y="447141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1A1A24"/>
                </a:solidFill>
                <a:latin typeface="Calibri"/>
              </a:rPr>
              <a:t>💰  Total net wealth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447141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8E8E9E"/>
                </a:solidFill>
                <a:latin typeface="Calibri"/>
              </a:rPr>
              <a:t>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406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1A1A24"/>
                </a:solidFill>
                <a:latin typeface="Calibri"/>
              </a:rPr>
              <a:t>Why it matters: you can answer "what can I actually spend today?" without doing arithmetic.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E8E9E"/>
                </a:solidFill>
                <a:latin typeface="Calibri"/>
              </a:rPr>
              <a:t>Sabil Tracker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00055" y="63550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E8E9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6D28D9"/>
                </a:solidFill>
                <a:latin typeface="Calibri"/>
              </a:rPr>
              <a:t>FEATURE 02  ·  THE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9536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A1A24"/>
                </a:solidFill>
                <a:latin typeface="Calibri"/>
              </a:rPr>
              <a:t>Define the fields each thing actually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0">
                <a:solidFill>
                  <a:srgbClr val="6B6B7E"/>
                </a:solidFill>
                <a:latin typeface="Calibri"/>
              </a:rPr>
              <a:t>A passport needs a number and an expiry. A car needs an odometer and a service date. No app ships with your fields — so you define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88920"/>
            <a:ext cx="5577840" cy="2514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6D28D9"/>
                </a:solidFill>
                <a:latin typeface="Calibri"/>
              </a:rPr>
              <a:t>Add a field to any sub-category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474720"/>
            <a:ext cx="4937760" cy="347472"/>
          </a:xfrm>
          <a:prstGeom prst="roundRect">
            <a:avLst>
              <a:gd name="adj" fmla="val 5500"/>
            </a:avLst>
          </a:prstGeom>
          <a:solidFill>
            <a:srgbClr val="FAFAFD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80160" y="3547872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1A1A24"/>
                </a:solidFill>
                <a:latin typeface="Calibri"/>
              </a:rPr>
              <a:t>Odometer (km)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354787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D28D9"/>
                </a:solidFill>
                <a:latin typeface="Calibri"/>
              </a:rPr>
              <a:t>Number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904488"/>
            <a:ext cx="4937760" cy="347472"/>
          </a:xfrm>
          <a:prstGeom prst="roundRect">
            <a:avLst>
              <a:gd name="adj" fmla="val 5500"/>
            </a:avLst>
          </a:prstGeom>
          <a:solidFill>
            <a:srgbClr val="FAFAFD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80160" y="397764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1A1A24"/>
                </a:solidFill>
                <a:latin typeface="Calibri"/>
              </a:rPr>
              <a:t>Last Service 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40" y="397764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D28D9"/>
                </a:solidFill>
                <a:latin typeface="Calibri"/>
              </a:rPr>
              <a:t>Date  ·  reminder 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334256"/>
            <a:ext cx="4937760" cy="347472"/>
          </a:xfrm>
          <a:prstGeom prst="roundRect">
            <a:avLst>
              <a:gd name="adj" fmla="val 5500"/>
            </a:avLst>
          </a:prstGeom>
          <a:solidFill>
            <a:srgbClr val="FAFAFD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80160" y="4407408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1A1A24"/>
                </a:solidFill>
                <a:latin typeface="Calibri"/>
              </a:rPr>
              <a:t>Tyre Brand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4407408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D28D9"/>
                </a:solidFill>
                <a:latin typeface="Calibri"/>
              </a:rPr>
              <a:t>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764024"/>
            <a:ext cx="4937760" cy="347472"/>
          </a:xfrm>
          <a:prstGeom prst="roundRect">
            <a:avLst>
              <a:gd name="adj" fmla="val 5500"/>
            </a:avLst>
          </a:prstGeom>
          <a:solidFill>
            <a:srgbClr val="FAFAFD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80160" y="4837176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1A1A24"/>
                </a:solidFill>
                <a:latin typeface="Calibri"/>
              </a:rPr>
              <a:t>Inspection done?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4837176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D28D9"/>
                </a:solidFill>
                <a:latin typeface="Calibri"/>
              </a:rPr>
              <a:t>Checkbox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2788920"/>
            <a:ext cx="4572000" cy="2514600"/>
          </a:xfrm>
          <a:prstGeom prst="roundRect">
            <a:avLst>
              <a:gd name="adj" fmla="val 5500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995160" y="30175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6D28D9"/>
                </a:solidFill>
                <a:latin typeface="Calibri"/>
              </a:rPr>
              <a:t>What that buys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474720"/>
            <a:ext cx="39319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6B6B7E"/>
                </a:solidFill>
                <a:latin typeface="Calibri"/>
              </a:rPr>
              <a:t>The logger renders those fields automatically when you pick the category.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6B6B7E"/>
                </a:solidFill>
                <a:latin typeface="Calibri"/>
              </a:rPr>
              <a:t>Any Date field can raise a reminder, with your own days-before offset.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6B6B7E"/>
                </a:solidFill>
                <a:latin typeface="Calibri"/>
              </a:rPr>
              <a:t>Reports grow columns to match the fields you filtered on.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6D28D9"/>
                </a:solidFill>
                <a:latin typeface="Calibri"/>
              </a:rPr>
              <a:t>No code. No migration. No developer.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E8E9E"/>
                </a:solidFill>
                <a:latin typeface="Calibri"/>
              </a:rPr>
              <a:t>Sabil Tracker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00055" y="63550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E8E9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6D28D9"/>
                </a:solidFill>
                <a:latin typeface="Calibri"/>
              </a:rPr>
              <a:t>FEATURE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9536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A1A24"/>
                </a:solidFill>
                <a:latin typeface="Calibri"/>
              </a:rPr>
              <a:t>Nothing expires without warning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0">
                <a:solidFill>
                  <a:srgbClr val="6B6B7E"/>
                </a:solidFill>
                <a:latin typeface="Calibri"/>
              </a:rPr>
              <a:t>Every date you record becomes a tracked deadline, surfaced long before it bites.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88920"/>
            <a:ext cx="3337560" cy="1371600"/>
          </a:xfrm>
          <a:prstGeom prst="roundRect">
            <a:avLst>
              <a:gd name="adj" fmla="val 55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33272" y="299923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1A1A24"/>
                </a:solidFill>
                <a:latin typeface="Calibri"/>
              </a:rPr>
              <a:t>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0175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Calibri"/>
              </a:rPr>
              <a:t>More than 180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3493008"/>
            <a:ext cx="28254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B6B7E"/>
                </a:solidFill>
                <a:latin typeface="Calibri"/>
              </a:rPr>
              <a:t>Green. Nothing to do yet.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2788920"/>
            <a:ext cx="3337560" cy="1371600"/>
          </a:xfrm>
          <a:prstGeom prst="roundRect">
            <a:avLst>
              <a:gd name="adj" fmla="val 5500"/>
            </a:avLst>
          </a:prstGeom>
          <a:solidFill>
            <a:srgbClr val="FFF7ED"/>
          </a:solidFill>
          <a:ln w="1270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54296" y="299923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1A1A24"/>
                </a:solidFill>
                <a:latin typeface="Calibri"/>
              </a:rPr>
              <a:t>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5504" y="30175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B45309"/>
                </a:solidFill>
                <a:latin typeface="Calibri"/>
              </a:rPr>
              <a:t>30 – 180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3493008"/>
            <a:ext cx="28254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B6B7E"/>
                </a:solidFill>
                <a:latin typeface="Calibri"/>
              </a:rPr>
              <a:t>Amber. Start the renewal.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9288" y="2788920"/>
            <a:ext cx="3337560" cy="1371600"/>
          </a:xfrm>
          <a:prstGeom prst="roundRect">
            <a:avLst>
              <a:gd name="adj" fmla="val 5500"/>
            </a:avLst>
          </a:prstGeom>
          <a:solidFill>
            <a:srgbClr val="FFF1F3"/>
          </a:solidFill>
          <a:ln w="12700">
            <a:solidFill>
              <a:srgbClr val="FB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75320" y="299923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1A1A24"/>
                </a:solidFill>
                <a:latin typeface="Calibri"/>
              </a:rPr>
              <a:t>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6528" y="30175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BE123C"/>
                </a:solidFill>
                <a:latin typeface="Calibri"/>
              </a:rPr>
              <a:t>Under 30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493008"/>
            <a:ext cx="28254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B6B7E"/>
                </a:solidFill>
                <a:latin typeface="Calibri"/>
              </a:rPr>
              <a:t>Red, and it pulses. Act now.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389120"/>
            <a:ext cx="10637215" cy="1234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97280" y="459028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6D28D9"/>
                </a:solidFill>
                <a:latin typeface="Calibri"/>
              </a:rPr>
              <a:t>How the alert reaches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9834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B6B7E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B6B7E"/>
                </a:solidFill>
                <a:latin typeface="Calibri"/>
              </a:rPr>
              <a:t>A nightly scheduled command scans every active reminder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9834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B6B7E"/>
                </a:solidFill>
                <a:latin typeface="Calibri"/>
              </a:rPr>
              <a:t>→  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B6B7E"/>
                </a:solidFill>
                <a:latin typeface="Calibri"/>
              </a:rPr>
              <a:t>Anything inside its days-before window is queued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9834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B6B7E"/>
                </a:solidFill>
                <a:latin typeface="Calibri"/>
              </a:rPr>
              <a:t>→  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B6B7E"/>
                </a:solidFill>
                <a:latin typeface="Calibri"/>
              </a:rPr>
              <a:t>You get an email and an in-app alert; the dashboard shows it first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E8E9E"/>
                </a:solidFill>
                <a:latin typeface="Calibri"/>
              </a:rPr>
              <a:t>Sabil Tracker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00055" y="63550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E8E9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6D28D9"/>
                </a:solidFill>
                <a:latin typeface="Calibri"/>
              </a:rPr>
              <a:t>FEATURE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9536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A1A24"/>
                </a:solidFill>
                <a:latin typeface="Calibri"/>
              </a:rPr>
              <a:t>Guardrails while it still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5074920" cy="2834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A1A24"/>
                </a:solidFill>
                <a:latin typeface="Calibri"/>
              </a:rPr>
              <a:t>Budgets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B6B7E"/>
                </a:solidFill>
                <a:latin typeface="Calibri"/>
              </a:rPr>
              <a:t>Set a monthly limit per category. Progress updates as you log.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0156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A1A24"/>
                </a:solidFill>
                <a:latin typeface="Calibri"/>
              </a:rPr>
              <a:t>Under 70%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401568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047857"/>
                </a:solidFill>
                <a:latin typeface="Calibri"/>
              </a:rPr>
              <a:t>on track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639312"/>
            <a:ext cx="4434840" cy="128016"/>
          </a:xfrm>
          <a:prstGeom prst="roundRect">
            <a:avLst>
              <a:gd name="adj" fmla="val 50000"/>
            </a:avLst>
          </a:prstGeom>
          <a:solidFill>
            <a:srgbClr val="EE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3639312"/>
            <a:ext cx="2439162" cy="128016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877056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A1A24"/>
                </a:solidFill>
                <a:latin typeface="Calibri"/>
              </a:rPr>
              <a:t>70 – 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877056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B45309"/>
                </a:solidFill>
                <a:latin typeface="Calibri"/>
              </a:rPr>
              <a:t>watch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114800"/>
            <a:ext cx="4434840" cy="128016"/>
          </a:xfrm>
          <a:prstGeom prst="roundRect">
            <a:avLst>
              <a:gd name="adj" fmla="val 50000"/>
            </a:avLst>
          </a:prstGeom>
          <a:solidFill>
            <a:srgbClr val="EE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7280" y="4114800"/>
            <a:ext cx="3547872" cy="128016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352544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A1A24"/>
                </a:solidFill>
                <a:latin typeface="Calibri"/>
              </a:rPr>
              <a:t>Over 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352544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BE123C"/>
                </a:solidFill>
                <a:latin typeface="Calibri"/>
              </a:rPr>
              <a:t>alert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4590288"/>
            <a:ext cx="4434840" cy="128016"/>
          </a:xfrm>
          <a:prstGeom prst="roundRect">
            <a:avLst>
              <a:gd name="adj" fmla="val 50000"/>
            </a:avLst>
          </a:prstGeom>
          <a:solidFill>
            <a:srgbClr val="EE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97280" y="4590288"/>
            <a:ext cx="4434840" cy="128016"/>
          </a:xfrm>
          <a:prstGeom prst="roundRect">
            <a:avLst>
              <a:gd name="adj" fmla="val 50000"/>
            </a:avLst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2148840"/>
            <a:ext cx="5074920" cy="2834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92240" y="23774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A1A24"/>
                </a:solidFill>
                <a:latin typeface="Calibri"/>
              </a:rPr>
              <a:t>Reports &amp; statements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788920"/>
            <a:ext cx="4434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6B6B7E"/>
                </a:solidFill>
                <a:latin typeface="Calibri"/>
              </a:rPr>
              <a:t>Filter by date range and any set of categories.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6B6B7E"/>
                </a:solidFill>
                <a:latin typeface="Calibri"/>
              </a:rPr>
              <a:t>Expense-by-category donut with drill-down from parent into sub-category.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6B6B7E"/>
                </a:solidFill>
                <a:latin typeface="Calibri"/>
              </a:rPr>
              <a:t>A trend line that separates everyday spending from asset maintenance cost.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6B6B7E"/>
                </a:solidFill>
                <a:latin typeface="Calibri"/>
              </a:rPr>
              <a:t>Tables that grow columns to show your custom fields.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B6B7E"/>
                </a:solidFill>
                <a:latin typeface="Calibri"/>
              </a:rPr>
              <a:t>One-click CSV export of the filtered statement.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E8E9E"/>
                </a:solidFill>
                <a:latin typeface="Calibri"/>
              </a:rPr>
              <a:t>Sabil Tracker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00055" y="63550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E8E9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6D28D9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9536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A1A24"/>
                </a:solidFill>
                <a:latin typeface="Calibri"/>
              </a:rPr>
              <a:t>Three steps, then it runs itself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86000"/>
            <a:ext cx="3337560" cy="2514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1560" y="2542032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DDD6FE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15468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A1A24"/>
                </a:solidFill>
                <a:latin typeface="Calibri"/>
              </a:rPr>
              <a:t>Set it up once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584448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6B7E"/>
                </a:solidFill>
                <a:latin typeface="Calibri"/>
              </a:rPr>
              <a:t>Add your cash and bank accounts, then build the category tree you actually use — and give the categories that need them their own custom fields.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2286000"/>
            <a:ext cx="3337560" cy="2514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72584" y="2542032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DDD6FE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2584" y="315468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A1A24"/>
                </a:solidFill>
                <a:latin typeface="Calibri"/>
              </a:rPr>
              <a:t>Log as you 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3584448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6B7E"/>
                </a:solidFill>
                <a:latin typeface="Calibri"/>
              </a:rPr>
              <a:t>Pick expense, income or asset log. Choose the category, and the fields that matter for that thing appear automatically.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9288" y="2286000"/>
            <a:ext cx="3337560" cy="2514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93608" y="2542032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DDD6FE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315468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A1A24"/>
                </a:solidFill>
                <a:latin typeface="Calibri"/>
              </a:rPr>
              <a:t>Get warned early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3584448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6B7E"/>
                </a:solidFill>
                <a:latin typeface="Calibri"/>
              </a:rPr>
              <a:t>Balances reconcile instantly. Budgets track live. Deadlines surface on the dashboard and by email before they land.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E8E9E"/>
                </a:solidFill>
                <a:latin typeface="Calibri"/>
              </a:rPr>
              <a:t>Sabil Tracker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55" y="63550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E8E9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6D28D9"/>
                </a:solidFill>
                <a:latin typeface="Calibri"/>
              </a:rPr>
              <a:t>WHY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9536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A1A24"/>
                </a:solidFill>
                <a:latin typeface="Calibri"/>
              </a:rPr>
              <a:t>What actually changes for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94560"/>
            <a:ext cx="507492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051560" y="246888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6D28D9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2487168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>
                <a:solidFill>
                  <a:srgbClr val="1A1A24"/>
                </a:solidFill>
                <a:latin typeface="Calibri"/>
              </a:rPr>
              <a:t>You always know what you can spend today.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2907792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B6B7E"/>
                </a:solidFill>
                <a:latin typeface="Calibri"/>
              </a:rPr>
              <a:t>Not what the bank app says — what you have, across cash and bank, right now.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194560"/>
            <a:ext cx="507492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46520" y="246888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6D28D9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2008" y="2487168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>
                <a:solidFill>
                  <a:srgbClr val="1A1A24"/>
                </a:solidFill>
                <a:latin typeface="Calibri"/>
              </a:rPr>
              <a:t>Nothing expires without warning.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22008" y="2907792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B6B7E"/>
                </a:solidFill>
                <a:latin typeface="Calibri"/>
              </a:rPr>
              <a:t>Renewals start weeks early instead of the day you're turned away at a counter.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49040"/>
            <a:ext cx="507492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051560" y="40233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6D28D9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4041648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>
                <a:solidFill>
                  <a:srgbClr val="1A1A24"/>
                </a:solidFill>
                <a:latin typeface="Calibri"/>
              </a:rPr>
              <a:t>Your tracker matches your life, not a template.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4462272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B6B7E"/>
                </a:solidFill>
                <a:latin typeface="Calibri"/>
              </a:rPr>
              <a:t>If it matters to you, there's a field for it — and you added it yourself.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49040"/>
            <a:ext cx="507492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6446520" y="40233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6D28D9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8" y="4041648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>
                <a:solidFill>
                  <a:srgbClr val="1A1A24"/>
                </a:solidFill>
                <a:latin typeface="Calibri"/>
              </a:rPr>
              <a:t>Your data stays yours.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8" y="4462272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B6B7E"/>
                </a:solidFill>
                <a:latin typeface="Calibri"/>
              </a:rPr>
              <a:t>Self-hosted. Your database, your server, no vendor pricing or outages in the way.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E8E9E"/>
                </a:solidFill>
                <a:latin typeface="Calibri"/>
              </a:rPr>
              <a:t>Sabil Tracker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00055" y="63550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E8E9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6D28D9"/>
                </a:solidFill>
                <a:latin typeface="Calibri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9536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A1A24"/>
                </a:solidFill>
                <a:latin typeface="Calibri"/>
              </a:rPr>
              <a:t>Built on a boring, proven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0">
                <a:solidFill>
                  <a:srgbClr val="6B6B7E"/>
                </a:solidFill>
                <a:latin typeface="Calibri"/>
              </a:rPr>
              <a:t>A single Laravel application serving a React SPA — no separate API to keep in sync.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51760"/>
            <a:ext cx="10637215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005840" y="2798064"/>
            <a:ext cx="1051560" cy="320040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6D28D9"/>
                </a:solidFill>
                <a:latin typeface="Calibri"/>
              </a:rPr>
              <a:t>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834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A1A24"/>
                </a:solidFill>
                <a:latin typeface="Calibri"/>
              </a:rPr>
              <a:t>React 19 · TypeScript · Tailwind CSS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84378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B6B7E"/>
                </a:solidFill>
                <a:latin typeface="Calibri"/>
              </a:rPr>
              <a:t>Charts hand-built as inline SVG — no chart library.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401568"/>
            <a:ext cx="10637215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1005840" y="3547872"/>
            <a:ext cx="1051560" cy="320040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6D28D9"/>
                </a:solidFill>
                <a:latin typeface="Calibri"/>
              </a:rPr>
              <a:t>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5844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A1A24"/>
                </a:solidFill>
                <a:latin typeface="Calibri"/>
              </a:rPr>
              <a:t>Inertia.js v3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35935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B6B7E"/>
                </a:solidFill>
                <a:latin typeface="Calibri"/>
              </a:rPr>
              <a:t>Server-side routing with an SPA feel. No REST layer, no CORS.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151376"/>
            <a:ext cx="10637215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005840" y="4297680"/>
            <a:ext cx="1051560" cy="320040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6D28D9"/>
                </a:solidFill>
                <a:latin typeface="Calibri"/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33425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A1A24"/>
                </a:solidFill>
                <a:latin typeface="Calibri"/>
              </a:rPr>
              <a:t>Laravel 13 · PHP 8.4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43434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B6B7E"/>
                </a:solidFill>
                <a:latin typeface="Calibri"/>
              </a:rPr>
              <a:t>Thin controllers, form requests, service classes, scheduled commands.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901184"/>
            <a:ext cx="10637215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005840" y="5047488"/>
            <a:ext cx="1051560" cy="320040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6D28D9"/>
                </a:solidFill>
                <a:latin typeface="Calibri"/>
              </a:rPr>
              <a:t>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08406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A1A24"/>
                </a:solidFill>
                <a:latin typeface="Calibri"/>
              </a:rPr>
              <a:t>SQLite (Postgres / MariaDB ready)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09320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B6B7E"/>
                </a:solidFill>
                <a:latin typeface="Calibri"/>
              </a:rPr>
              <a:t>Five tables, soft deletes, JSON columns for the custom fields.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E8E9E"/>
                </a:solidFill>
                <a:latin typeface="Calibri"/>
              </a:rPr>
              <a:t>Sabil Tracker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00055" y="63550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E8E9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6D28D9"/>
                </a:solidFill>
                <a:latin typeface="Calibri"/>
              </a:rPr>
              <a:t>WHERE IT 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9536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A1A24"/>
                </a:solidFill>
                <a:latin typeface="Calibri"/>
              </a:rPr>
              <a:t>Built and working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40280"/>
            <a:ext cx="333756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1560" y="2468880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6D28D9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24612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A1A24"/>
                </a:solidFill>
                <a:latin typeface="Calibri"/>
              </a:rPr>
              <a:t>application screens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61188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6B6B7E"/>
                </a:solidFill>
                <a:latin typeface="Calibri"/>
              </a:rPr>
              <a:t>Dashboard, transactions, categories,
accounts, planner, reminders,
budgets, reports, landing.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2240280"/>
            <a:ext cx="333756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72584" y="2468880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6D28D9"/>
                </a:solidFill>
                <a:latin typeface="Calibri"/>
              </a:rPr>
              <a:t>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2584" y="324612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A1A24"/>
                </a:solidFill>
                <a:latin typeface="Calibri"/>
              </a:rPr>
              <a:t>automated tests passing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361188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6B6B7E"/>
                </a:solidFill>
                <a:latin typeface="Calibri"/>
              </a:rPr>
              <a:t>Covering balances, cascade deletes,
reminders, budgets, reports
and CSV export.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9288" y="2240280"/>
            <a:ext cx="333756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7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93608" y="2468880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6D28D9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324612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A1A24"/>
                </a:solidFill>
                <a:latin typeface="Calibri"/>
              </a:rPr>
              <a:t>core data tables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361188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6B6B7E"/>
                </a:solidFill>
                <a:latin typeface="Calibri"/>
              </a:rPr>
              <a:t>Accounts, categories, transactions,
reminders and budgets —
all user-scoped.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709160"/>
            <a:ext cx="10637215" cy="777240"/>
          </a:xfrm>
          <a:prstGeom prst="roundRect">
            <a:avLst>
              <a:gd name="adj" fmla="val 5500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97280" y="4919472"/>
            <a:ext cx="99971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6D28D9"/>
                </a:solidFill>
                <a:latin typeface="Calibri"/>
              </a:rPr>
              <a:t>Seeded demo data ships with the app — a passport expiring in 40 days, a tyre change due in 5, six months of transactions — so the reminder states are visible on first run.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E8E9E"/>
                </a:solidFill>
                <a:latin typeface="Calibri"/>
              </a:rPr>
              <a:t>Sabil Tracker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00055" y="63550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E8E9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3108960"/>
            <a:ext cx="6858000" cy="6858000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91111" y="0"/>
            <a:ext cx="100584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1A1A24"/>
                </a:solidFill>
                <a:latin typeface="Calibri"/>
              </a:rPr>
              <a:t>Stop guessing your balance.
Stop finding out too late.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77639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6B6B7E"/>
                </a:solidFill>
                <a:latin typeface="Calibri"/>
              </a:rPr>
              <a:t>One ledger for cash and bank. Your own fields on the things you track.
Reminders that fire before the deadline, not after.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029200"/>
            <a:ext cx="1371600" cy="381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349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6D28D9"/>
                </a:solidFill>
                <a:latin typeface="Calibri"/>
              </a:rPr>
              <a:t>Sabil Tracker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